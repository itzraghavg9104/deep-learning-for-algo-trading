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78300" y="1662100"/>
            <a:ext cx="10566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Architecting an Optimization-Based Algorithmic Trading System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4371112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Framework Integrating Probabilistic Forecasting and Deep Reinforcement Learning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7482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College Major Project Proposal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6725"/>
            <a:ext cx="12064825" cy="624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4112"/>
            <a:ext cx="12192002" cy="6289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4"/>
          <p:cNvGrpSpPr/>
          <p:nvPr/>
        </p:nvGrpSpPr>
        <p:grpSpPr>
          <a:xfrm>
            <a:off x="1309887" y="1759211"/>
            <a:ext cx="9572221" cy="3339583"/>
            <a:chOff x="1809750" y="2290762"/>
            <a:chExt cx="8572650" cy="2990850"/>
          </a:xfrm>
        </p:grpSpPr>
        <p:sp>
          <p:nvSpPr>
            <p:cNvPr id="94" name="Google Shape;94;p14"/>
            <p:cNvSpPr txBox="1"/>
            <p:nvPr/>
          </p:nvSpPr>
          <p:spPr>
            <a:xfrm>
              <a:off x="1905000" y="2290762"/>
              <a:ext cx="847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Problem Overview &amp; Purpose											</a:t>
              </a:r>
              <a:r>
                <a:rPr lang="en-US" sz="1674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		3</a:t>
              </a:r>
              <a:endParaRPr sz="1563"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809750" y="2290762"/>
              <a:ext cx="28575" cy="3048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51025" lIns="102075" spcFirstLastPara="1" rIns="102075" wrap="square" tIns="51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905000" y="2738437"/>
              <a:ext cx="847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Finance Fundamentals															4</a:t>
              </a:r>
              <a:endParaRPr sz="1563"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809750" y="2738437"/>
              <a:ext cx="28575" cy="3048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51025" lIns="102075" spcFirstLastPara="1" rIns="102075" wrap="square" tIns="51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905000" y="3186112"/>
              <a:ext cx="847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Current Deep Learning Models													5</a:t>
              </a:r>
              <a:endParaRPr sz="1563"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809750" y="3186112"/>
              <a:ext cx="28575" cy="3048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51025" lIns="102075" spcFirstLastPara="1" rIns="102075" wrap="square" tIns="51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905000" y="3633787"/>
              <a:ext cx="847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Problem Statement															6</a:t>
              </a:r>
              <a:endParaRPr sz="1563"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809750" y="3633787"/>
              <a:ext cx="28575" cy="3048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51025" lIns="102075" spcFirstLastPara="1" rIns="102075" wrap="square" tIns="51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905000" y="4081462"/>
              <a:ext cx="847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Research Objectives															7</a:t>
              </a:r>
              <a:endParaRPr sz="1563"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809750" y="4081462"/>
              <a:ext cx="28575" cy="3048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51025" lIns="102075" spcFirstLastPara="1" rIns="102075" wrap="square" tIns="51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905000" y="4529137"/>
              <a:ext cx="847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Current &amp; Proposed Solutions												 </a:t>
              </a:r>
              <a:r>
                <a:rPr lang="en-US" sz="1674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8</a:t>
              </a:r>
              <a:r>
                <a:rPr lang="en-US" sz="1674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 - 9</a:t>
              </a:r>
              <a:endParaRPr sz="1563"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1809750" y="4529137"/>
              <a:ext cx="28575" cy="3048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51025" lIns="102075" spcFirstLastPara="1" rIns="102075" wrap="square" tIns="51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905000" y="4976812"/>
              <a:ext cx="8477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Conclusion &amp; References												</a:t>
              </a:r>
              <a:r>
                <a:rPr lang="en-US" sz="1674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	</a:t>
              </a:r>
              <a:r>
                <a:rPr b="0" i="0" lang="en-US" sz="1674" u="none" cap="none" strike="noStrike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10 - 1</a:t>
              </a:r>
              <a:r>
                <a:rPr lang="en-US" sz="1674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sz="1563"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1809750" y="4976812"/>
              <a:ext cx="28575" cy="3048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anchorCtr="0" anchor="ctr" bIns="51025" lIns="102075" spcFirstLastPara="1" rIns="102075" wrap="square" tIns="51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Table of Contents</a:t>
            </a:r>
            <a:endParaRPr/>
          </a:p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6553200" y="6356350"/>
            <a:ext cx="2130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571500" y="222885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Current algorithmic trading systems face several key challenges: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52475" y="26574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2657475"/>
            <a:ext cx="504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Prediction vs. Optimization: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Most models are simple predictors (forecasting prices) but lack the ability to make optimized decisions (Buy/Sell/Hold).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52475" y="35718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3571875"/>
            <a:ext cx="504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Human Mimicry: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It is difficult to capture the complex, non-linear decision-making process of an experienced human trader.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52475" y="44862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4486275"/>
            <a:ext cx="504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Risk &amp; Uncertainty: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Simple, single-point forecasts (e.g., "Price will be </a:t>
            </a:r>
            <a:r>
              <a:rPr lang="en-US"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Rs.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105") ignore market uncertainty. A probabilistic forecast (e.g., "70% chance of </a:t>
            </a:r>
            <a:r>
              <a:rPr lang="en-US"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Rs.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100 -</a:t>
            </a:r>
            <a:r>
              <a:rPr lang="en-US"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Rs.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110") is superior for risk management.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663" y="222885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Overview and Purpose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76563" y="5629275"/>
            <a:ext cx="6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1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/>
        </p:nvSpPr>
        <p:spPr>
          <a:xfrm>
            <a:off x="571500" y="170021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Trader's Cognitive Process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252662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professional trader's behavior is a two-stage process this project aims to mimic: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77678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Key Indicators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329237"/>
            <a:ext cx="528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Our system must integrate these same inputs: Technical Indicators (MACD, RSI), Sentiment Analysis, and Probabilistic Forecasts.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2938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2938462"/>
            <a:ext cx="490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Analysis (Prediction):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trader forms a mental forecast by reading charts (Technical Indicators) and consuming news (Sentiment Analysis).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19150" y="3852862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52500" y="3852862"/>
            <a:ext cx="490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Decision (Optimization):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trader executes a trade (Buy/Sell/Hold) based on their forecast and their personal risk tolerance.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Finance Fundamentals</a:t>
            </a:r>
            <a:endParaRPr/>
          </a:p>
        </p:txBody>
      </p:sp>
      <p:pic>
        <p:nvPicPr>
          <p:cNvPr id="138" name="Google Shape;13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2200" y="928500"/>
            <a:ext cx="5550700" cy="55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676563" y="5629275"/>
            <a:ext cx="6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2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/>
        </p:nvSpPr>
        <p:spPr>
          <a:xfrm>
            <a:off x="571500" y="136207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Predictive Models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19145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These answer: "What will the price be?"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3148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 Models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48672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These answer: "What should I do?"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52475" y="23431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09625" y="2343150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RNN, LSTM, GRU: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Standard models for forecasting price trends.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52475" y="2900363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09625" y="2869163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DeepAR (Li et al.):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An advanced model that provides probabilistic forecasts (a price range with confidence</a:t>
            </a:r>
            <a:r>
              <a:rPr lang="en-US"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52475" y="36576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09625" y="3657600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FinBERT: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 language model that analyzes text for financial sentiment.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52475" y="52959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09625" y="5295900"/>
            <a:ext cx="5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Deep Reinforcement Learning (DRL):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An agent learns an optimal policy (a set of rules) to maximize a reward.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52475" y="59531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09625" y="595312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Algorithms: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DQN, SARSA, PPO.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504825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Current DL Models in Finance</a:t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025" y="1192200"/>
            <a:ext cx="4887226" cy="488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8676563" y="5629275"/>
            <a:ext cx="6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3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/>
        </p:nvSpPr>
        <p:spPr>
          <a:xfrm>
            <a:off x="2407925" y="2208475"/>
            <a:ext cx="7350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Existing models fail to capture a human trader's ability to integrate diverse data and make optimized, risk-adjusted decisions. Current solutions lack the adaptability to incorporate nuanced trader behavior and rely excessively on historical data.</a:t>
            </a:r>
            <a:endParaRPr b="1" i="1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581150" y="2667000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AE6FF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0134600" y="4953000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AE6FF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00250"/>
            <a:ext cx="24765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000250"/>
            <a:ext cx="24765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00250"/>
            <a:ext cx="24765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2000250"/>
            <a:ext cx="24765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349692" y="3009900"/>
            <a:ext cx="9201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Study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66775" y="3705225"/>
            <a:ext cx="188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Analyze current modular DL/DRL architectures</a:t>
            </a:r>
            <a:r>
              <a:rPr lang="en-US"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3942159" y="3009900"/>
            <a:ext cx="14501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Integrate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3724275" y="3705225"/>
            <a:ext cx="188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Create a rich state space that inputs trader behavior into a DRL agent.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799659" y="3009900"/>
            <a:ext cx="14501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581775" y="3705225"/>
            <a:ext cx="188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 superior models  to improve accuracy and risk-adjusted returns (Sharpe Ratio).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747170" y="3009900"/>
            <a:ext cx="12701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Analyze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439275" y="3705225"/>
            <a:ext cx="18859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Focus on relative data changes (percentages) rather than absolute prices to ensure model robustness.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150" y="23145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0075" y="23145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6150" y="23145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Objectives</a:t>
            </a:r>
            <a:endParaRPr/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47175" y="1908100"/>
            <a:ext cx="1270150" cy="12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90800"/>
            <a:ext cx="528637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90800"/>
            <a:ext cx="5286375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962025" y="2981325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Layer 1: </a:t>
            </a:r>
            <a:r>
              <a:rPr b="1" lang="en-US" sz="24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Processing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62025" y="3533775"/>
            <a:ext cx="45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first layer uses predictive models (like LSTM) to forecast price, volatility, and uncertainty. This forms the "analysis" part of a trader's brain.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724650" y="2981325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Layer 2: </a:t>
            </a:r>
            <a:r>
              <a:rPr b="1" lang="en-US" sz="24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24650" y="3533775"/>
            <a:ext cx="45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Deep Reinforcement Learning (DRL) agent consumes these predictions and learns an optimal policy to maximize a reward.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Current Solutions: A Modular Approach</a:t>
            </a:r>
            <a:endParaRPr/>
          </a:p>
        </p:txBody>
      </p:sp>
      <p:sp>
        <p:nvSpPr>
          <p:cNvPr id="205" name="Google Shape;205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571500" y="1590675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Processing</a:t>
            </a:r>
            <a:r>
              <a:rPr b="1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Layer (State Space)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21431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will build a comprehensive state space that mimics a trader's inputs: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50" y="4292100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</a:t>
            </a:r>
            <a:r>
              <a:rPr b="1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Layer (DRL Agent)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52475" y="28289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09625" y="2828925"/>
            <a:ext cx="50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Probabilistic Forecast: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Use Deep</a:t>
            </a:r>
            <a:r>
              <a:rPr lang="en-US" sz="12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Learning</a:t>
            </a: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model to</a:t>
            </a:r>
            <a:r>
              <a:rPr lang="en-US" sz="12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process the data. </a:t>
            </a:r>
            <a:endParaRPr sz="12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and find the underlying pattern.</a:t>
            </a:r>
            <a:endParaRPr sz="12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752475" y="34861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09625" y="3486150"/>
            <a:ext cx="50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Trader Behaviour: </a:t>
            </a:r>
            <a:r>
              <a:rPr lang="en-US" sz="12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Using the Trader’s behaviour like Risk Tolerance and Time frame.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752475" y="3991388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09625" y="4027575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Technical: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Use </a:t>
            </a:r>
            <a:r>
              <a:rPr lang="en-US" sz="12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of</a:t>
            </a: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30+ indicators (RSI, MACD, etc.).</a:t>
            </a:r>
            <a:endParaRPr sz="1200"/>
          </a:p>
        </p:txBody>
      </p:sp>
      <p:sp>
        <p:nvSpPr>
          <p:cNvPr id="219" name="Google Shape;219;p21"/>
          <p:cNvSpPr txBox="1"/>
          <p:nvPr/>
        </p:nvSpPr>
        <p:spPr>
          <a:xfrm>
            <a:off x="752475" y="48101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09625" y="4810125"/>
            <a:ext cx="50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Algorithm: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Use Proximal Policy Optimization (PPO) like algo</a:t>
            </a:r>
            <a:r>
              <a:rPr lang="en-US" sz="12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rithm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for its stability and robustness.</a:t>
            </a:r>
            <a:endParaRPr sz="1200"/>
          </a:p>
        </p:txBody>
      </p:sp>
      <p:sp>
        <p:nvSpPr>
          <p:cNvPr id="221" name="Google Shape;221;p21"/>
          <p:cNvSpPr txBox="1"/>
          <p:nvPr/>
        </p:nvSpPr>
        <p:spPr>
          <a:xfrm>
            <a:off x="752475" y="54673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09625" y="5467350"/>
            <a:ext cx="50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Reward: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Optimize for the Short-Term Sharpe Ratio to ensure risk-adjusted returns.</a:t>
            </a:r>
            <a:endParaRPr sz="1200"/>
          </a:p>
        </p:txBody>
      </p:sp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7237" y="1553637"/>
            <a:ext cx="5960176" cy="375071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Solution: An Enhanced Two-Stage System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676563" y="5629275"/>
            <a:ext cx="6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4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5619750" y="2166937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435792" y="2500312"/>
            <a:ext cx="332041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2286000" y="3405187"/>
            <a:ext cx="7620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This project bridges the gap between simple price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prediction </a:t>
            </a: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and true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optimization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 By integrating probabilistic forecasts  and </a:t>
            </a:r>
            <a:r>
              <a:rPr lang="en-US" sz="16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trader behaviour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into a robust DRL agent (PPO), our system mimics the cognitive process of a professional trader to deliver stable, high-performing, risk-adjusted returns.</a:t>
            </a:r>
            <a:endParaRPr/>
          </a:p>
        </p:txBody>
      </p:sp>
      <p:sp>
        <p:nvSpPr>
          <p:cNvPr id="234" name="Google Shape;23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/>
        </p:nvSpPr>
        <p:spPr>
          <a:xfrm>
            <a:off x="1519850" y="1735818"/>
            <a:ext cx="9336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DM Sans"/>
              <a:buChar char="●"/>
            </a:pPr>
            <a:r>
              <a:rPr i="1" lang="en-US" sz="20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Bhuiyan, M. S. M., et al. (2025). "Deep learning for algorithmic trading: A systematic review of predictive models and optimization strategies." Array, 26.</a:t>
            </a:r>
            <a:endParaRPr i="1" sz="20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DM Sans"/>
              <a:buChar char="●"/>
            </a:pPr>
            <a:r>
              <a:rPr i="1" lang="en-US" sz="20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Huang, Y., et al. (2024). "A novel deep reinforcement learning framework with BILSTM-Attention networks for algorithmic trading." Expert Systems With Applications, 240.</a:t>
            </a:r>
            <a:endParaRPr i="1" sz="20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000"/>
              <a:buFont typeface="DM Sans"/>
              <a:buChar char="●"/>
            </a:pPr>
            <a:r>
              <a:rPr i="1" lang="en-US" sz="20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Li, J., et al. (2024). "DeepAR-Attention probabilistic prediction for stock price series." Neural Computing and Applications, 36.</a:t>
            </a:r>
            <a:endParaRPr i="1" sz="20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/>
          </a:p>
        </p:txBody>
      </p:sp>
      <p:sp>
        <p:nvSpPr>
          <p:cNvPr id="241" name="Google Shape;241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/>
          <p:nvPr/>
        </p:nvSpPr>
        <p:spPr>
          <a:xfrm>
            <a:off x="638175" y="3081337"/>
            <a:ext cx="109156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38175" y="3852862"/>
            <a:ext cx="109156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638175" y="3077775"/>
            <a:ext cx="109158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2462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1733550" y="2469356"/>
            <a:ext cx="98202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https://pub.mdpi-res.com/jrfm/jrfm-17-00479/article_deploy/html/images/jrfm-17-00479-g001-550.jpg?1730111573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1733550" y="2702718"/>
            <a:ext cx="982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  <p:pic>
        <p:nvPicPr>
          <p:cNvPr descr="image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" y="4005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1733550" y="4012406"/>
            <a:ext cx="98202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https://www.mdpi.com/designs/designs-08-00078/article_deploy/html/images/designs-08-00078-g001.png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733550" y="4245768"/>
            <a:ext cx="982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  <p:pic>
        <p:nvPicPr>
          <p:cNvPr descr="image.png" id="255" name="Google Shape;2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3017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1733550" y="3237318"/>
            <a:ext cx="982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https://pub.mdpi-res.com/fintech/fintech-01-00008/article_deploy/html/images/fintech-01-00008-g001.png?1648380642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733550" y="3470681"/>
            <a:ext cx="982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59" name="Google Shape;259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/>
        </p:nvSpPr>
        <p:spPr>
          <a:xfrm>
            <a:off x="295275" y="2581275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